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3: Analysis, PivotTables &amp; Dashboards. Three 3-hour sessions. Homework: Build a one-page regional sales dashboard from sales_data.csv.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three sessions and the week's outcome before diving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Reinforce that PivotTables need clean, tabular source data — link back to Week 1-2.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charts simple — one message per chart. Contrast a cluttered chart with a clean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mirrors the Excel capstone. Encourage a clean, printable one-pager.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objectives, assign homework, preview next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217346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97680"/>
            <a:ext cx="3108960" cy="3108960"/>
          </a:xfrm>
          <a:prstGeom prst="ellipse">
            <a:avLst/>
          </a:prstGeom>
          <a:solidFill>
            <a:srgbClr val="2E9E5B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ADVANCED EXCEL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3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6F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Analysis, PivotTables &amp; Dashboards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4937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 · PivotTables — Summarise Anything     S8 · Charts &amp; Conditional Formatting     S9 · Interactive Dashboard Build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Excel &amp; Power BI  ·  Instructor Deck  ·  3-hour sessions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3B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week at a glance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3566160" cy="3840480"/>
          </a:xfrm>
          <a:prstGeom prst="roundRect">
            <a:avLst>
              <a:gd name="adj" fmla="val 2564"/>
            </a:avLst>
          </a:prstGeom>
          <a:solidFill>
            <a:srgbClr val="F4F9F6"/>
          </a:solidFill>
          <a:ln w="12700">
            <a:solidFill>
              <a:srgbClr val="E6F2EA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4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2011680"/>
            <a:ext cx="502920" cy="502920"/>
          </a:xfrm>
          <a:prstGeom prst="ellipse">
            <a:avLst/>
          </a:prstGeom>
          <a:solidFill>
            <a:srgbClr val="21734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202996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7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PivotTables — Summarise Anything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PivotTables from Tables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Group, sort and filter results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calculated fields &amp; value settings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26280" y="1737360"/>
            <a:ext cx="3566160" cy="3840480"/>
          </a:xfrm>
          <a:prstGeom prst="roundRect">
            <a:avLst>
              <a:gd name="adj" fmla="val 2564"/>
            </a:avLst>
          </a:prstGeom>
          <a:solidFill>
            <a:srgbClr val="F4F9F6"/>
          </a:solidFill>
          <a:ln w="12700">
            <a:solidFill>
              <a:srgbClr val="E6F2EA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2011680"/>
            <a:ext cx="502920" cy="502920"/>
          </a:xfrm>
          <a:prstGeom prst="ellipse">
            <a:avLst/>
          </a:prstGeom>
          <a:solidFill>
            <a:srgbClr val="217346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40680" y="202996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7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00600" y="26517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Charts &amp; Conditional Formatting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00600" y="365760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right chart for the message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combo and sparkline charts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rule-based conditional formatting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12480" y="1737360"/>
            <a:ext cx="3566160" cy="3840480"/>
          </a:xfrm>
          <a:prstGeom prst="roundRect">
            <a:avLst>
              <a:gd name="adj" fmla="val 2564"/>
            </a:avLst>
          </a:prstGeom>
          <a:solidFill>
            <a:srgbClr val="F4F9F6"/>
          </a:solidFill>
          <a:ln w="12700">
            <a:solidFill>
              <a:srgbClr val="E6F2EA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0" y="2011680"/>
            <a:ext cx="502920" cy="502920"/>
          </a:xfrm>
          <a:prstGeom prst="ellipse">
            <a:avLst/>
          </a:prstGeom>
          <a:solidFill>
            <a:srgbClr val="217346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326880" y="202996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7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0" y="26517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Dashboard Build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686800" y="365760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 one-page dashboard layout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Slicers to multiple PivotTables/charts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KPI cells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17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Homework:  Build a one-page regional sales dashboard from sales_data.csv.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21734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63040" y="5029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S7  ·  PivotTables — Summarise Anything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17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PivotTables from Tables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Group, sort and filter results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calculated fields &amp; value settings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Slicers and Timelines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343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17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/ BUILD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75488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5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Region and Category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5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Values As % of Grand Total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5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Slicer and a Timeline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69164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F4F9F6"/>
          </a:solidFill>
          <a:ln w="12700">
            <a:solidFill>
              <a:srgbClr val="E6F2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3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TO TEACH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2331720"/>
            <a:ext cx="489204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/ Columns / Values / Filters zones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dates into months &amp; quarters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settings: % of total, running total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fields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 for point-and-click filtering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Timelines for date filtering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Refreshing when source data changes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21734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63040" y="5029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S8  ·  Charts &amp; Conditional Formatting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17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right chart for the message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combo and sparkline charts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rule-based conditional formatting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with formulas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343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17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/ BUILD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75488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5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Combo chart: revenue bars + margin line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5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below-target rows with a formula rule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5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sparklines per salesperson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69164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F4F9F6"/>
          </a:solidFill>
          <a:ln w="12700">
            <a:solidFill>
              <a:srgbClr val="E6F2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3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TO TEACH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2331720"/>
            <a:ext cx="489204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/ bar / line / combo charts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Sparklines for in-cell trends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best practices (declutter, label)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bars, colour scales, icon sets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Top/bottom &amp; duplicate-highlight rules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Formula-driven conditional formatting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21734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63040" y="5029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S9  ·  Interactive Dashboard Build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17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 one-page dashboard layout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Slicers to multiple PivotTables/charts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KPI cells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for presentation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343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17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/ BUILD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75488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5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PivotTables + charts + Slicers on one sheet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5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a single Slicer to all elements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69164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F4F9F6"/>
          </a:solidFill>
          <a:ln w="12700">
            <a:solidFill>
              <a:srgbClr val="E6F2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3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TO TEACH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2331720"/>
            <a:ext cx="489204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layout &amp; visual hierarchy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one Slicer to many PivotTables (Report Connections)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cells (Total Revenue, Top Region)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colours &amp; number formats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Freezing panes &amp; hiding gridlines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3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3 wrap-up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week learners can: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10424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PivotTables from Tables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Group, sort and filter results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calculated fields &amp; value settings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Slicers and Timelines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right chart for the message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combo and sparkline charts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rule-based conditional formatting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with formulas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566928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Homework:  Build a one-page regional sales dashboard from sales_data.csv.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3 — Analysis, PivotTables &amp; Dashboards</dc:title>
  <dc:subject>PptxGenJS Presentation</dc:subject>
  <dc:creator>Advanced Excel &amp; Power BI Course</dc:creator>
  <cp:lastModifiedBy>Advanced Excel &amp; Power BI Course</cp:lastModifiedBy>
  <cp:revision>1</cp:revision>
  <dcterms:created xsi:type="dcterms:W3CDTF">2026-08-04T22:08:45Z</dcterms:created>
  <dcterms:modified xsi:type="dcterms:W3CDTF">2026-08-04T22:08:45Z</dcterms:modified>
</cp:coreProperties>
</file>