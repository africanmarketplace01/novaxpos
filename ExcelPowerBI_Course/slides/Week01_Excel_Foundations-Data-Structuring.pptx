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1: Foundations &amp; Data Structuring. Three 3-hour sessions. Homework: Clean and structure the raw orders file into a proper Excel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three sessions and the week's outcome before diving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WHY tables matter: formulas auto-fill, ranges auto-expand, and PivotTables/Power BI love them. Have learners retype a few shortcuts until muscle memory forms.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highest-value real-world skill. Let learners feel the pain of the messy file first, then show each fix. Save the cleaned result for later sessions.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the session with Quiz 1 (10 questions) covering Weeks 1 topics. Collect homework briefs.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objectives, assign homework, preview next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21734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97680"/>
            <a:ext cx="3108960" cy="3108960"/>
          </a:xfrm>
          <a:prstGeom prst="ellipse">
            <a:avLst/>
          </a:prstGeom>
          <a:solidFill>
            <a:srgbClr val="2E9E5B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ADVANCED EXCEL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6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 &amp; Data Structuring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4937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· Excel Power Features + Tables     S2 · Data Cleaning Fundamentals     S3 · Logical Functions  +  Quiz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Excel &amp; Power BI  ·  Instructor Deck  ·  3-hour sessions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3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 at a glance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F4F9F6"/>
          </a:solidFill>
          <a:ln w="12700">
            <a:solidFill>
              <a:srgbClr val="E6F2EA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4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2011680"/>
            <a:ext cx="502920" cy="502920"/>
          </a:xfrm>
          <a:prstGeom prst="ellipse">
            <a:avLst/>
          </a:prstGeom>
          <a:solidFill>
            <a:srgbClr val="21734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202996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Power Features + Tables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fluently with keyboard shortcuts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absolute vs relative references correctly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ranges for readable formulas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1737360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F4F9F6"/>
          </a:solidFill>
          <a:ln w="12700">
            <a:solidFill>
              <a:srgbClr val="E6F2EA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2011680"/>
            <a:ext cx="502920" cy="502920"/>
          </a:xfrm>
          <a:prstGeom prst="ellipse">
            <a:avLst/>
          </a:prstGeom>
          <a:solidFill>
            <a:srgbClr val="217346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40680" y="202996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00600" y="26517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Fundamentals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00600" y="365760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and combine text columns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 and trailing spaces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text case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12480" y="1737360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F4F9F6"/>
          </a:solidFill>
          <a:ln w="12700">
            <a:solidFill>
              <a:srgbClr val="E6F2EA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0" y="2011680"/>
            <a:ext cx="502920" cy="502920"/>
          </a:xfrm>
          <a:prstGeom prst="ellipse">
            <a:avLst/>
          </a:prstGeom>
          <a:solidFill>
            <a:srgbClr val="217346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326880" y="202996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0" y="26517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Functions  +  Quiz 1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686800" y="365760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single and nested IF formulas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nested IFs with IFS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conditions with AND / OR / NOT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Homework:  Clean and structure the raw orders file into a proper Excel Table.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21734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5029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  ·  Excel Power Features + Tables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fluently with keyboard shortcuts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absolute vs relative references correctly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ranges for readable formulas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data into structured Excel Tables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/ BUILD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sales_data.csv into a formatted Table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calculated column with a structured reference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named range and use it in a SUM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4F9F6"/>
          </a:solidFill>
          <a:ln w="12700">
            <a:solidFill>
              <a:srgbClr val="E6F2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3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TO TEACH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331720"/>
            <a:ext cx="489204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Ribbon deep-dive &amp; Quick Access Toolbar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$A$1 vs A1 vs $A1 — when each locks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ranges (Name Box &amp; Name Manager)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&gt; Table, table styles, Total row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references: Table[Column]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Auto-expansion when new rows are added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21734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5029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  ·  Data Cleaning Fundamentals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and combine text columns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 and trailing spaces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text case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wildcards in Find &amp; Replace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/ BUILD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raw_orders_messy.csv step by step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mixed-case names with PROPER + TRIM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first names with Flash Fill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4F9F6"/>
          </a:solidFill>
          <a:ln w="12700">
            <a:solidFill>
              <a:srgbClr val="E6F2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3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TO TEACH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331720"/>
            <a:ext cx="489204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Text-to-Columns (delimited &amp; fixed width)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Fill (Ctrl+E) for pattern extraction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TRIM, CLEAN, PROPER, UPPER, LOWER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&amp; Replace with * and ? wildcards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Spotting hidden characters &amp; inconsistent data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21734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5029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S3  ·  Logical Functions  +  Quiz 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single and nested IF formulas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nested IFs with IFS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conditions with AND / OR / NOT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 errors with IFERROR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/ BUILD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sales-commission calculator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bonus tier with IFS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 division in IFERROR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4F9F6"/>
          </a:solidFill>
          <a:ln w="12700">
            <a:solidFill>
              <a:srgbClr val="E6F2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3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TO TEACH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331720"/>
            <a:ext cx="489204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IF(logical_test, value_if_true, value_if_false)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IF and its readability limits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IFS for multiple bands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AND, OR, NOT for compound tests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IFERROR to hide #N/A and #DIV/0!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commission / grading model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3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 wrap-up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week learners can: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424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fluently with keyboard shortcuts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absolute vs relative references correctly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ranges for readable formulas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data into structured Excel Tables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and combine text columns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 and trailing spaces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text case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wildcards in Find &amp; Replace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566928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Homework:  Clean and structure the raw orders file into a proper Excel Table.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 — Foundations &amp; Data Structuring</dc:title>
  <dc:subject>PptxGenJS Presentation</dc:subject>
  <dc:creator>Advanced Excel &amp; Power BI Course</dc:creator>
  <cp:lastModifiedBy>Advanced Excel &amp; Power BI Course</cp:lastModifiedBy>
  <cp:revision>1</cp:revision>
  <dcterms:created xsi:type="dcterms:W3CDTF">2026-08-04T22:08:45Z</dcterms:created>
  <dcterms:modified xsi:type="dcterms:W3CDTF">2026-08-04T22:08:45Z</dcterms:modified>
</cp:coreProperties>
</file>